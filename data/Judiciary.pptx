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71" r:id="rId8"/>
    <p:sldId id="272" r:id="rId9"/>
    <p:sldId id="273" r:id="rId10"/>
    <p:sldId id="274" r:id="rId11"/>
    <p:sldId id="275" r:id="rId12"/>
    <p:sldId id="276" r:id="rId13"/>
    <p:sldId id="277" r:id="rId14"/>
    <p:sldId id="278" r:id="rId15"/>
    <p:sldId id="264" r:id="rId16"/>
    <p:sldId id="265" r:id="rId17"/>
    <p:sldId id="266" r:id="rId18"/>
    <p:sldId id="267" r:id="rId19"/>
    <p:sldId id="268" r:id="rId20"/>
    <p:sldId id="269" r:id="rId21"/>
    <p:sldId id="270"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936"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Judiciary in India</a:t>
            </a:r>
          </a:p>
        </p:txBody>
      </p:sp>
      <p:sp>
        <p:nvSpPr>
          <p:cNvPr id="3" name="Subtitle 2"/>
          <p:cNvSpPr>
            <a:spLocks noGrp="1"/>
          </p:cNvSpPr>
          <p:nvPr>
            <p:ph type="subTitle" idx="1"/>
          </p:nvPr>
        </p:nvSpPr>
        <p:spPr/>
        <p:txBody>
          <a:bodyPr/>
          <a:lstStyle/>
          <a:p>
            <a:r>
              <a:t>Overview Presentation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 to Judiciary</a:t>
            </a:r>
          </a:p>
        </p:txBody>
      </p:sp>
      <p:sp>
        <p:nvSpPr>
          <p:cNvPr id="3" name="Content Placeholder 2"/>
          <p:cNvSpPr>
            <a:spLocks noGrp="1"/>
          </p:cNvSpPr>
          <p:nvPr>
            <p:ph idx="1"/>
          </p:nvPr>
        </p:nvSpPr>
        <p:spPr/>
        <p:txBody>
          <a:bodyPr>
            <a:normAutofit fontScale="92500" lnSpcReduction="10000"/>
          </a:bodyPr>
          <a:lstStyle/>
          <a:p>
            <a:r>
              <a:t>• Judiciary is an independent branch of government.</a:t>
            </a:r>
          </a:p>
          <a:p>
            <a:r>
              <a:t>• Responsible for interpreting the Constitution.</a:t>
            </a:r>
          </a:p>
          <a:p>
            <a:r>
              <a:t>• Ensures justice and equality for all citizens.</a:t>
            </a:r>
          </a:p>
          <a:p>
            <a:r>
              <a:t>• Acts as guardian of Fundamental Rights.</a:t>
            </a:r>
          </a:p>
          <a:p>
            <a:r>
              <a:t>• Prevents misuse of authority by government.</a:t>
            </a:r>
          </a:p>
          <a:p>
            <a:r>
              <a:t>• Functions through courts at multiple levels.</a:t>
            </a:r>
          </a:p>
          <a:p>
            <a:r>
              <a:t>• Ensures rule of law in the nation.</a:t>
            </a:r>
          </a:p>
          <a:p>
            <a:r>
              <a:t>• Plays vital role in maintaining democracy.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Structure of Indian Judiciary</a:t>
            </a:r>
          </a:p>
        </p:txBody>
      </p:sp>
      <p:sp>
        <p:nvSpPr>
          <p:cNvPr id="3" name="Content Placeholder 2"/>
          <p:cNvSpPr>
            <a:spLocks noGrp="1"/>
          </p:cNvSpPr>
          <p:nvPr>
            <p:ph idx="1"/>
          </p:nvPr>
        </p:nvSpPr>
        <p:spPr/>
        <p:txBody>
          <a:bodyPr>
            <a:normAutofit lnSpcReduction="10000"/>
          </a:bodyPr>
          <a:lstStyle/>
          <a:p>
            <a:r>
              <a:t>• Supreme Court at the top.</a:t>
            </a:r>
          </a:p>
          <a:p>
            <a:r>
              <a:t>• High Courts at the state level.</a:t>
            </a:r>
          </a:p>
          <a:p>
            <a:r>
              <a:t>• District and Sessions Courts in districts.</a:t>
            </a:r>
          </a:p>
          <a:p>
            <a:r>
              <a:t>• Subordinate courts at lower levels.</a:t>
            </a:r>
          </a:p>
          <a:p>
            <a:r>
              <a:t>• Unified and integrated judicial system.</a:t>
            </a:r>
          </a:p>
          <a:p>
            <a:r>
              <a:t>• Supreme Court decisions binding on all.</a:t>
            </a:r>
          </a:p>
          <a:p>
            <a:r>
              <a:t>• High Courts supervise lower courts.</a:t>
            </a:r>
          </a:p>
          <a:p>
            <a:r>
              <a:t>• Hierarchy ensures smooth functioning.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3" descr="indian-judicial-system-2-638.jpg">
            <a:extLst>
              <a:ext uri="{FF2B5EF4-FFF2-40B4-BE49-F238E27FC236}">
                <a16:creationId xmlns:a16="http://schemas.microsoft.com/office/drawing/2014/main" id="{CB2C17E5-BE7F-DB24-2E0C-3D5FC4D1C52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568325" y="381000"/>
            <a:ext cx="7966075" cy="598011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E3B8EFD-C632-27E1-703B-638629E1AB5F}"/>
              </a:ext>
            </a:extLst>
          </p:cNvPr>
          <p:cNvSpPr txBox="1"/>
          <p:nvPr/>
        </p:nvSpPr>
        <p:spPr>
          <a:xfrm>
            <a:off x="2286000" y="297114"/>
            <a:ext cx="4572000" cy="523220"/>
          </a:xfrm>
          <a:prstGeom prst="rect">
            <a:avLst/>
          </a:prstGeom>
          <a:noFill/>
        </p:spPr>
        <p:txBody>
          <a:bodyPr wrap="square">
            <a:spAutoFit/>
          </a:bodyPr>
          <a:lstStyle/>
          <a:p>
            <a:pPr algn="ctr"/>
            <a:r>
              <a:rPr lang="en-US" sz="2800" b="1" dirty="0">
                <a:solidFill>
                  <a:srgbClr val="C00000"/>
                </a:solidFill>
              </a:rPr>
              <a:t>Hierarchy of Judiciary in India</a:t>
            </a:r>
            <a:endParaRPr lang="en-IN" sz="2800" dirty="0"/>
          </a:p>
        </p:txBody>
      </p:sp>
      <p:pic>
        <p:nvPicPr>
          <p:cNvPr id="5" name="Content Placeholder 3" descr="Indian%20Court%20Structure1.jpg">
            <a:extLst>
              <a:ext uri="{FF2B5EF4-FFF2-40B4-BE49-F238E27FC236}">
                <a16:creationId xmlns:a16="http://schemas.microsoft.com/office/drawing/2014/main" id="{1DF532A4-3179-66F8-B5C7-5CA0B3A0D74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1739208" y="820334"/>
            <a:ext cx="5665583" cy="590212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3" descr="indian-judicial-system-9-638.jpg">
            <a:extLst>
              <a:ext uri="{FF2B5EF4-FFF2-40B4-BE49-F238E27FC236}">
                <a16:creationId xmlns:a16="http://schemas.microsoft.com/office/drawing/2014/main" id="{E8B614C4-676B-0522-033F-CB70801BE82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517525" y="381000"/>
            <a:ext cx="8093075" cy="607536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B60CD60B-D32D-B590-3DED-56C27F3B5E5D}"/>
              </a:ext>
            </a:extLst>
          </p:cNvPr>
          <p:cNvSpPr>
            <a:spLocks noGrp="1"/>
          </p:cNvSpPr>
          <p:nvPr>
            <p:ph type="title"/>
          </p:nvPr>
        </p:nvSpPr>
        <p:spPr/>
        <p:txBody>
          <a:bodyPr/>
          <a:lstStyle/>
          <a:p>
            <a:pPr eaLnBrk="1" hangingPunct="1"/>
            <a:r>
              <a:rPr lang="en-US" altLang="en-US" b="1">
                <a:solidFill>
                  <a:srgbClr val="C00000"/>
                </a:solidFill>
              </a:rPr>
              <a:t>The Supreme Court</a:t>
            </a:r>
          </a:p>
        </p:txBody>
      </p:sp>
      <p:sp>
        <p:nvSpPr>
          <p:cNvPr id="8195" name="Content Placeholder 2">
            <a:extLst>
              <a:ext uri="{FF2B5EF4-FFF2-40B4-BE49-F238E27FC236}">
                <a16:creationId xmlns:a16="http://schemas.microsoft.com/office/drawing/2014/main" id="{FBBA5C87-4509-4403-C468-CBC1704B0CA0}"/>
              </a:ext>
            </a:extLst>
          </p:cNvPr>
          <p:cNvSpPr>
            <a:spLocks noGrp="1"/>
          </p:cNvSpPr>
          <p:nvPr>
            <p:ph idx="1"/>
          </p:nvPr>
        </p:nvSpPr>
        <p:spPr/>
        <p:txBody>
          <a:bodyPr/>
          <a:lstStyle/>
          <a:p>
            <a:pPr eaLnBrk="1" hangingPunct="1"/>
            <a:r>
              <a:rPr lang="en-US" altLang="en-US" sz="4000">
                <a:solidFill>
                  <a:srgbClr val="002060"/>
                </a:solidFill>
              </a:rPr>
              <a:t>The Supreme Court has </a:t>
            </a:r>
          </a:p>
          <a:p>
            <a:pPr lvl="1" eaLnBrk="1" hangingPunct="1"/>
            <a:r>
              <a:rPr lang="en-US" altLang="en-US" sz="3600">
                <a:solidFill>
                  <a:srgbClr val="002060"/>
                </a:solidFill>
              </a:rPr>
              <a:t>original, </a:t>
            </a:r>
          </a:p>
          <a:p>
            <a:pPr lvl="1" eaLnBrk="1" hangingPunct="1"/>
            <a:r>
              <a:rPr lang="en-US" altLang="en-US" sz="3600">
                <a:solidFill>
                  <a:srgbClr val="002060"/>
                </a:solidFill>
              </a:rPr>
              <a:t>Appellate, </a:t>
            </a:r>
          </a:p>
          <a:p>
            <a:pPr lvl="1" eaLnBrk="1" hangingPunct="1"/>
            <a:r>
              <a:rPr lang="en-US" altLang="en-US" sz="3600">
                <a:solidFill>
                  <a:srgbClr val="002060"/>
                </a:solidFill>
              </a:rPr>
              <a:t>writ and </a:t>
            </a:r>
          </a:p>
          <a:p>
            <a:pPr lvl="1" eaLnBrk="1" hangingPunct="1"/>
            <a:r>
              <a:rPr lang="en-US" altLang="en-US" sz="3600">
                <a:solidFill>
                  <a:srgbClr val="002060"/>
                </a:solidFill>
              </a:rPr>
              <a:t>Advisory Jurisdictions</a:t>
            </a:r>
          </a:p>
          <a:p>
            <a:pPr eaLnBrk="1" hangingPunct="1"/>
            <a:endParaRPr lang="en-US" altLang="en-US" sz="4000">
              <a:solidFill>
                <a:srgbClr val="00206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D6768F71-1CE2-8288-BCEA-93F99E147168}"/>
              </a:ext>
            </a:extLst>
          </p:cNvPr>
          <p:cNvSpPr>
            <a:spLocks noGrp="1"/>
          </p:cNvSpPr>
          <p:nvPr>
            <p:ph type="title"/>
          </p:nvPr>
        </p:nvSpPr>
        <p:spPr>
          <a:xfrm>
            <a:off x="457200" y="0"/>
            <a:ext cx="8229600" cy="838200"/>
          </a:xfrm>
        </p:spPr>
        <p:txBody>
          <a:bodyPr/>
          <a:lstStyle/>
          <a:p>
            <a:pPr eaLnBrk="1" hangingPunct="1"/>
            <a:r>
              <a:rPr lang="en-US" altLang="en-US" b="1">
                <a:solidFill>
                  <a:srgbClr val="C00000"/>
                </a:solidFill>
              </a:rPr>
              <a:t>Jurisdiction of High Court</a:t>
            </a:r>
          </a:p>
        </p:txBody>
      </p:sp>
      <p:sp>
        <p:nvSpPr>
          <p:cNvPr id="9219" name="Content Placeholder 2">
            <a:extLst>
              <a:ext uri="{FF2B5EF4-FFF2-40B4-BE49-F238E27FC236}">
                <a16:creationId xmlns:a16="http://schemas.microsoft.com/office/drawing/2014/main" id="{EF498365-8C4B-9567-A07E-DA09F6E38A9F}"/>
              </a:ext>
            </a:extLst>
          </p:cNvPr>
          <p:cNvSpPr>
            <a:spLocks noGrp="1"/>
          </p:cNvSpPr>
          <p:nvPr>
            <p:ph idx="1"/>
          </p:nvPr>
        </p:nvSpPr>
        <p:spPr>
          <a:xfrm>
            <a:off x="457200" y="1066800"/>
            <a:ext cx="8458200" cy="5562600"/>
          </a:xfrm>
        </p:spPr>
        <p:txBody>
          <a:bodyPr/>
          <a:lstStyle/>
          <a:p>
            <a:pPr eaLnBrk="1" hangingPunct="1"/>
            <a:r>
              <a:rPr lang="en-US" altLang="en-US" sz="2000">
                <a:solidFill>
                  <a:srgbClr val="002060"/>
                </a:solidFill>
              </a:rPr>
              <a:t>Every High Court enjoys original jurisdiction with respect to revenue and its collection, cases of succession, divorce etc.</a:t>
            </a:r>
          </a:p>
          <a:p>
            <a:pPr eaLnBrk="1" hangingPunct="1"/>
            <a:r>
              <a:rPr lang="en-US" altLang="en-US" sz="2000">
                <a:solidFill>
                  <a:srgbClr val="002060"/>
                </a:solidFill>
              </a:rPr>
              <a:t>In its appellate Jurisdiction, it hears appeals from the lower courts in cases concerning sales-tax, income tax, copy right, patent-right etc. The High Court is a court of record and its proceedings and decisions are referred to in future cases.</a:t>
            </a:r>
          </a:p>
          <a:p>
            <a:pPr eaLnBrk="1" hangingPunct="1"/>
            <a:r>
              <a:rPr lang="en-US" altLang="en-US" sz="2000">
                <a:solidFill>
                  <a:srgbClr val="002060"/>
                </a:solidFill>
              </a:rPr>
              <a:t>A High court can issue writs for the enforcement of fundamental rights or for any other such purpose.</a:t>
            </a:r>
          </a:p>
          <a:p>
            <a:pPr eaLnBrk="1" hangingPunct="1"/>
            <a:r>
              <a:rPr lang="en-US" altLang="en-US" sz="2000">
                <a:solidFill>
                  <a:srgbClr val="002060"/>
                </a:solidFill>
              </a:rPr>
              <a:t>A High Court supervises the working of all subordinate courts and frames rules and regulations for the transaction of business.</a:t>
            </a:r>
          </a:p>
          <a:p>
            <a:pPr eaLnBrk="1" hangingPunct="1"/>
            <a:r>
              <a:rPr lang="en-US" altLang="en-US" sz="2000">
                <a:solidFill>
                  <a:srgbClr val="002060"/>
                </a:solidFill>
              </a:rPr>
              <a:t>The High Court is empowered to interpret the constitution of India. It can review the laws of the State Legislature and may declare them null and void if they go against the provisions of the constitution.</a:t>
            </a:r>
          </a:p>
          <a:p>
            <a:pPr eaLnBrk="1" hangingPunct="1"/>
            <a:r>
              <a:rPr lang="en-US" altLang="en-US" sz="2000">
                <a:solidFill>
                  <a:srgbClr val="002060"/>
                </a:solidFill>
              </a:rPr>
              <a:t>Again, if a High court is satisfied that a case pending in a lower court involves a substantial question of law as to the interpretation of the constitution, it my dispose of the case itself.</a:t>
            </a:r>
          </a:p>
          <a:p>
            <a:pPr eaLnBrk="1" hangingPunct="1"/>
            <a:endParaRPr lang="en-US" altLang="en-US" sz="2000">
              <a:solidFill>
                <a:srgbClr val="00206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5A8B0769-A8E0-4B64-F9E5-EF012622728B}"/>
              </a:ext>
            </a:extLst>
          </p:cNvPr>
          <p:cNvSpPr>
            <a:spLocks noGrp="1"/>
          </p:cNvSpPr>
          <p:nvPr>
            <p:ph type="title"/>
          </p:nvPr>
        </p:nvSpPr>
        <p:spPr>
          <a:xfrm>
            <a:off x="457200" y="76200"/>
            <a:ext cx="8229600" cy="563563"/>
          </a:xfrm>
        </p:spPr>
        <p:txBody>
          <a:bodyPr>
            <a:normAutofit fontScale="90000"/>
          </a:bodyPr>
          <a:lstStyle/>
          <a:p>
            <a:pPr eaLnBrk="1" hangingPunct="1"/>
            <a:r>
              <a:rPr lang="en-US" altLang="en-US" b="1">
                <a:solidFill>
                  <a:srgbClr val="C00000"/>
                </a:solidFill>
              </a:rPr>
              <a:t>Subordinate courts</a:t>
            </a:r>
          </a:p>
        </p:txBody>
      </p:sp>
      <p:sp>
        <p:nvSpPr>
          <p:cNvPr id="10243" name="Content Placeholder 2">
            <a:extLst>
              <a:ext uri="{FF2B5EF4-FFF2-40B4-BE49-F238E27FC236}">
                <a16:creationId xmlns:a16="http://schemas.microsoft.com/office/drawing/2014/main" id="{BEAC1AEA-4879-3352-CBE9-24793E8D64EF}"/>
              </a:ext>
            </a:extLst>
          </p:cNvPr>
          <p:cNvSpPr>
            <a:spLocks noGrp="1"/>
          </p:cNvSpPr>
          <p:nvPr>
            <p:ph idx="1"/>
          </p:nvPr>
        </p:nvSpPr>
        <p:spPr>
          <a:xfrm>
            <a:off x="381000" y="838200"/>
            <a:ext cx="8534400" cy="5715000"/>
          </a:xfrm>
        </p:spPr>
        <p:txBody>
          <a:bodyPr/>
          <a:lstStyle/>
          <a:p>
            <a:pPr eaLnBrk="1" hangingPunct="1"/>
            <a:r>
              <a:rPr lang="en-US" altLang="en-US" sz="2400">
                <a:solidFill>
                  <a:srgbClr val="002060"/>
                </a:solidFill>
              </a:rPr>
              <a:t>There are subordinate courts below the High court in each state.</a:t>
            </a:r>
          </a:p>
          <a:p>
            <a:pPr eaLnBrk="1" hangingPunct="1"/>
            <a:r>
              <a:rPr lang="en-US" altLang="en-US" sz="2400">
                <a:solidFill>
                  <a:srgbClr val="002060"/>
                </a:solidFill>
              </a:rPr>
              <a:t>The courts are under the complete control of the High court. The lower court (e.g. Nyaya Panchayat or Munsiffs court) deals with minor cases while the higher courts (e.g., subordinate Judge’s court or District Judge’s court) deal with important cases.</a:t>
            </a:r>
          </a:p>
          <a:p>
            <a:pPr eaLnBrk="1" hangingPunct="1"/>
            <a:r>
              <a:rPr lang="en-US" altLang="en-US" sz="2400">
                <a:solidFill>
                  <a:srgbClr val="002060"/>
                </a:solidFill>
              </a:rPr>
              <a:t>Appeals lie to the higher courts from the lower courts. An appeal may also lie to the High Court against the decisions of the District judge’s court or the Session Judge’s court.</a:t>
            </a:r>
          </a:p>
          <a:p>
            <a:pPr eaLnBrk="1" hangingPunct="1"/>
            <a:r>
              <a:rPr lang="en-US" altLang="en-US" sz="2400">
                <a:solidFill>
                  <a:srgbClr val="002060"/>
                </a:solidFill>
              </a:rPr>
              <a:t>In a Presidency town, there are city civil courts and Metropolitan Magistrates courts.</a:t>
            </a:r>
          </a:p>
          <a:p>
            <a:pPr eaLnBrk="1" hangingPunct="1"/>
            <a:r>
              <a:rPr lang="en-US" altLang="en-US" sz="2400">
                <a:solidFill>
                  <a:srgbClr val="002060"/>
                </a:solidFill>
              </a:rPr>
              <a:t>In this connection, we are to note that most of the Judges of the subordinate courts are appointed by the Governor in consultation with the High Court of the concerned State.</a:t>
            </a:r>
          </a:p>
          <a:p>
            <a:pPr eaLnBrk="1" hangingPunct="1"/>
            <a:endParaRPr lang="en-US" altLang="en-US" sz="2400">
              <a:solidFill>
                <a:srgbClr val="00206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53D1D3A8-05EA-B67F-0313-42DBD0F742F5}"/>
              </a:ext>
            </a:extLst>
          </p:cNvPr>
          <p:cNvSpPr>
            <a:spLocks noGrp="1"/>
          </p:cNvSpPr>
          <p:nvPr>
            <p:ph type="title"/>
          </p:nvPr>
        </p:nvSpPr>
        <p:spPr/>
        <p:txBody>
          <a:bodyPr/>
          <a:lstStyle/>
          <a:p>
            <a:pPr eaLnBrk="1" hangingPunct="1"/>
            <a:endParaRPr lang="en-US" altLang="en-US"/>
          </a:p>
        </p:txBody>
      </p:sp>
      <p:sp>
        <p:nvSpPr>
          <p:cNvPr id="11267" name="Title 1">
            <a:extLst>
              <a:ext uri="{FF2B5EF4-FFF2-40B4-BE49-F238E27FC236}">
                <a16:creationId xmlns:a16="http://schemas.microsoft.com/office/drawing/2014/main" id="{71088D8B-B378-2F95-F686-341012403231}"/>
              </a:ext>
            </a:extLst>
          </p:cNvPr>
          <p:cNvSpPr>
            <a:spLocks noGrp="1"/>
          </p:cNvSpPr>
          <p:nvPr>
            <p:ph idx="1"/>
          </p:nvPr>
        </p:nvSpPr>
        <p:spPr>
          <a:xfrm>
            <a:off x="914400" y="2209800"/>
            <a:ext cx="7162800" cy="2057400"/>
          </a:xfrm>
        </p:spPr>
        <p:txBody>
          <a:bodyPr/>
          <a:lstStyle/>
          <a:p>
            <a:pPr algn="ctr" eaLnBrk="1" hangingPunct="1">
              <a:buFont typeface="Arial" panose="020B0604020202020204" pitchFamily="34" charset="0"/>
              <a:buNone/>
            </a:pPr>
            <a:r>
              <a:rPr lang="en-US" altLang="en-US" sz="4800" b="1">
                <a:solidFill>
                  <a:srgbClr val="C00000"/>
                </a:solidFill>
              </a:rPr>
              <a:t>Salient Features of Indian Judiciary</a:t>
            </a:r>
            <a:endParaRPr lang="en-US" altLang="en-US" sz="4800">
              <a:solidFill>
                <a:srgbClr val="C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Content Placeholder 2">
            <a:extLst>
              <a:ext uri="{FF2B5EF4-FFF2-40B4-BE49-F238E27FC236}">
                <a16:creationId xmlns:a16="http://schemas.microsoft.com/office/drawing/2014/main" id="{A59A55EE-3F99-98FC-9653-4B7B10DA0EC4}"/>
              </a:ext>
            </a:extLst>
          </p:cNvPr>
          <p:cNvSpPr>
            <a:spLocks noGrp="1"/>
          </p:cNvSpPr>
          <p:nvPr>
            <p:ph idx="1"/>
          </p:nvPr>
        </p:nvSpPr>
        <p:spPr>
          <a:xfrm>
            <a:off x="457200" y="838200"/>
            <a:ext cx="8458200" cy="4830763"/>
          </a:xfrm>
        </p:spPr>
        <p:txBody>
          <a:bodyPr>
            <a:normAutofit fontScale="92500" lnSpcReduction="20000"/>
          </a:bodyPr>
          <a:lstStyle/>
          <a:p>
            <a:pPr eaLnBrk="1" hangingPunct="1"/>
            <a:r>
              <a:rPr lang="en-US" altLang="en-US">
                <a:solidFill>
                  <a:srgbClr val="002060"/>
                </a:solidFill>
              </a:rPr>
              <a:t>The Constitution establishes a single integrated judicial system for the whole of India. </a:t>
            </a:r>
          </a:p>
          <a:p>
            <a:pPr eaLnBrk="1" hangingPunct="1"/>
            <a:r>
              <a:rPr lang="en-US" altLang="en-US">
                <a:solidFill>
                  <a:srgbClr val="002060"/>
                </a:solidFill>
              </a:rPr>
              <a:t>The Supreme Court of India is the highest court of the country and below it are the High Courts at the state level. </a:t>
            </a:r>
          </a:p>
          <a:p>
            <a:pPr eaLnBrk="1" hangingPunct="1"/>
            <a:r>
              <a:rPr lang="en-US" altLang="en-US">
                <a:solidFill>
                  <a:srgbClr val="002060"/>
                </a:solidFill>
              </a:rPr>
              <a:t>Other courts (Subordinate Courts) work under the High Courts. </a:t>
            </a:r>
          </a:p>
          <a:p>
            <a:pPr eaLnBrk="1" hangingPunct="1"/>
            <a:r>
              <a:rPr lang="en-US" altLang="en-US">
                <a:solidFill>
                  <a:srgbClr val="002060"/>
                </a:solidFill>
              </a:rPr>
              <a:t>The Supreme Court controls and runs the judicial administration of India. </a:t>
            </a:r>
          </a:p>
          <a:p>
            <a:pPr eaLnBrk="1" hangingPunct="1"/>
            <a:r>
              <a:rPr lang="en-US" altLang="en-US">
                <a:solidFill>
                  <a:srgbClr val="002060"/>
                </a:solidFill>
              </a:rPr>
              <a:t>All courts in India form links of a single judicial system.</a:t>
            </a:r>
          </a:p>
          <a:p>
            <a:pPr eaLnBrk="1" hangingPunct="1"/>
            <a:endParaRPr lang="en-US" altLang="en-US">
              <a:solidFill>
                <a:srgbClr val="002060"/>
              </a:solidFill>
            </a:endParaRPr>
          </a:p>
        </p:txBody>
      </p:sp>
      <p:sp>
        <p:nvSpPr>
          <p:cNvPr id="12291" name="Title 3">
            <a:extLst>
              <a:ext uri="{FF2B5EF4-FFF2-40B4-BE49-F238E27FC236}">
                <a16:creationId xmlns:a16="http://schemas.microsoft.com/office/drawing/2014/main" id="{1656B78A-A7AF-BAD5-69E0-C4A24BEFF354}"/>
              </a:ext>
            </a:extLst>
          </p:cNvPr>
          <p:cNvSpPr>
            <a:spLocks noGrp="1"/>
          </p:cNvSpPr>
          <p:nvPr>
            <p:ph type="title"/>
          </p:nvPr>
        </p:nvSpPr>
        <p:spPr>
          <a:xfrm>
            <a:off x="457200" y="0"/>
            <a:ext cx="8229600" cy="685800"/>
          </a:xfrm>
        </p:spPr>
        <p:txBody>
          <a:bodyPr/>
          <a:lstStyle/>
          <a:p>
            <a:pPr eaLnBrk="1" hangingPunct="1"/>
            <a:r>
              <a:rPr lang="en-US" altLang="en-US" sz="3600" b="1">
                <a:solidFill>
                  <a:srgbClr val="C00000"/>
                </a:solidFill>
              </a:rPr>
              <a:t>1. Single and Integrated Judicial System</a:t>
            </a:r>
            <a:endParaRPr lang="en-US" altLang="en-US" sz="3600">
              <a:solidFill>
                <a:srgbClr val="C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79BE1C13-0679-D2A4-87AA-BC31924C559E}"/>
              </a:ext>
            </a:extLst>
          </p:cNvPr>
          <p:cNvSpPr>
            <a:spLocks noGrp="1"/>
          </p:cNvSpPr>
          <p:nvPr>
            <p:ph type="title"/>
          </p:nvPr>
        </p:nvSpPr>
        <p:spPr>
          <a:xfrm>
            <a:off x="457200" y="0"/>
            <a:ext cx="8229600" cy="762000"/>
          </a:xfrm>
        </p:spPr>
        <p:txBody>
          <a:bodyPr/>
          <a:lstStyle/>
          <a:p>
            <a:pPr eaLnBrk="1" hangingPunct="1"/>
            <a:r>
              <a:rPr lang="en-US" altLang="en-US" sz="3600" b="1">
                <a:solidFill>
                  <a:srgbClr val="C00000"/>
                </a:solidFill>
              </a:rPr>
              <a:t>2. Independence of Judiciary: </a:t>
            </a:r>
            <a:endParaRPr lang="en-US" altLang="en-US" sz="3600">
              <a:solidFill>
                <a:srgbClr val="C00000"/>
              </a:solidFill>
            </a:endParaRPr>
          </a:p>
        </p:txBody>
      </p:sp>
      <p:sp>
        <p:nvSpPr>
          <p:cNvPr id="13315" name="Content Placeholder 2">
            <a:extLst>
              <a:ext uri="{FF2B5EF4-FFF2-40B4-BE49-F238E27FC236}">
                <a16:creationId xmlns:a16="http://schemas.microsoft.com/office/drawing/2014/main" id="{A006C58F-C4CB-3807-632D-EA594ED18115}"/>
              </a:ext>
            </a:extLst>
          </p:cNvPr>
          <p:cNvSpPr>
            <a:spLocks noGrp="1"/>
          </p:cNvSpPr>
          <p:nvPr>
            <p:ph idx="1"/>
          </p:nvPr>
        </p:nvSpPr>
        <p:spPr>
          <a:xfrm>
            <a:off x="381000" y="838200"/>
            <a:ext cx="8305800" cy="5287963"/>
          </a:xfrm>
        </p:spPr>
        <p:txBody>
          <a:bodyPr>
            <a:normAutofit fontScale="92500"/>
          </a:bodyPr>
          <a:lstStyle/>
          <a:p>
            <a:pPr eaLnBrk="1" hangingPunct="1">
              <a:buFont typeface="Arial" panose="020B0604020202020204" pitchFamily="34" charset="0"/>
              <a:buNone/>
            </a:pPr>
            <a:r>
              <a:rPr lang="en-US" altLang="en-US" sz="2400">
                <a:solidFill>
                  <a:srgbClr val="002060"/>
                </a:solidFill>
              </a:rPr>
              <a:t>The Constitution of India makes judiciary truly independent.</a:t>
            </a:r>
            <a:endParaRPr lang="en-US" altLang="en-US" sz="2400" b="1">
              <a:solidFill>
                <a:srgbClr val="002060"/>
              </a:solidFill>
            </a:endParaRPr>
          </a:p>
          <a:p>
            <a:pPr eaLnBrk="1" hangingPunct="1">
              <a:buFont typeface="Arial" panose="020B0604020202020204" pitchFamily="34" charset="0"/>
              <a:buNone/>
            </a:pPr>
            <a:r>
              <a:rPr lang="en-US" altLang="en-US" sz="2400" b="1">
                <a:solidFill>
                  <a:srgbClr val="002060"/>
                </a:solidFill>
              </a:rPr>
              <a:t>It provides for:</a:t>
            </a:r>
          </a:p>
          <a:p>
            <a:pPr eaLnBrk="1" hangingPunct="1">
              <a:buFont typeface="Arial" panose="020B0604020202020204" pitchFamily="34" charset="0"/>
              <a:buNone/>
            </a:pPr>
            <a:endParaRPr lang="en-US" altLang="en-US" sz="2400">
              <a:solidFill>
                <a:srgbClr val="002060"/>
              </a:solidFill>
            </a:endParaRPr>
          </a:p>
          <a:p>
            <a:pPr eaLnBrk="1" hangingPunct="1"/>
            <a:r>
              <a:rPr lang="en-US" altLang="en-US" sz="2400">
                <a:solidFill>
                  <a:srgbClr val="002060"/>
                </a:solidFill>
              </a:rPr>
              <a:t> (i) Appointment of judges by the President,</a:t>
            </a:r>
          </a:p>
          <a:p>
            <a:pPr eaLnBrk="1" hangingPunct="1"/>
            <a:r>
              <a:rPr lang="en-US" altLang="en-US" sz="2400">
                <a:solidFill>
                  <a:srgbClr val="002060"/>
                </a:solidFill>
              </a:rPr>
              <a:t>(ii) High qualifications for appointment as judges,</a:t>
            </a:r>
          </a:p>
          <a:p>
            <a:pPr eaLnBrk="1" hangingPunct="1"/>
            <a:r>
              <a:rPr lang="en-US" altLang="en-US" sz="2400">
                <a:solidFill>
                  <a:srgbClr val="002060"/>
                </a:solidFill>
              </a:rPr>
              <a:t>(iii) Removal of judges by a difficult method of impeachment,</a:t>
            </a:r>
          </a:p>
          <a:p>
            <a:pPr eaLnBrk="1" hangingPunct="1"/>
            <a:r>
              <a:rPr lang="en-US" altLang="en-US" sz="2400">
                <a:solidFill>
                  <a:srgbClr val="002060"/>
                </a:solidFill>
              </a:rPr>
              <a:t>(iv) High salaries, pension and other service benefits for judges,</a:t>
            </a:r>
          </a:p>
          <a:p>
            <a:pPr eaLnBrk="1" hangingPunct="1"/>
            <a:r>
              <a:rPr lang="en-US" altLang="en-US" sz="2400">
                <a:solidFill>
                  <a:srgbClr val="002060"/>
                </a:solidFill>
              </a:rPr>
              <a:t> (v) Independent establishment for the Judiciary, and</a:t>
            </a:r>
          </a:p>
          <a:p>
            <a:pPr eaLnBrk="1" hangingPunct="1"/>
            <a:r>
              <a:rPr lang="en-US" altLang="en-US" sz="2400">
                <a:solidFill>
                  <a:srgbClr val="002060"/>
                </a:solidFill>
              </a:rPr>
              <a:t>(vi) Adequate powers and functional autonomy for the Judiciary.</a:t>
            </a:r>
          </a:p>
          <a:p>
            <a:pPr eaLnBrk="1" hangingPunct="1">
              <a:buFont typeface="Arial" panose="020B0604020202020204" pitchFamily="34" charset="0"/>
              <a:buNone/>
            </a:pPr>
            <a:endParaRPr lang="en-US" altLang="en-US" sz="2400">
              <a:solidFill>
                <a:srgbClr val="002060"/>
              </a:solidFill>
            </a:endParaRPr>
          </a:p>
          <a:p>
            <a:pPr eaLnBrk="1" hangingPunct="1">
              <a:buFont typeface="Arial" panose="020B0604020202020204" pitchFamily="34" charset="0"/>
              <a:buNone/>
            </a:pPr>
            <a:r>
              <a:rPr lang="en-US" altLang="en-US" sz="2400">
                <a:solidFill>
                  <a:srgbClr val="002060"/>
                </a:solidFill>
              </a:rPr>
              <a:t>All these features together make the Indian Judiciary an independent judiciary.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EFBB6FA3-7A9B-48BA-8169-9488C83F815B}"/>
              </a:ext>
            </a:extLst>
          </p:cNvPr>
          <p:cNvSpPr>
            <a:spLocks noGrp="1"/>
          </p:cNvSpPr>
          <p:nvPr>
            <p:ph type="title"/>
          </p:nvPr>
        </p:nvSpPr>
        <p:spPr/>
        <p:txBody>
          <a:bodyPr>
            <a:normAutofit fontScale="90000"/>
          </a:bodyPr>
          <a:lstStyle/>
          <a:p>
            <a:pPr eaLnBrk="1" hangingPunct="1"/>
            <a:r>
              <a:rPr lang="en-US" altLang="en-US" sz="3600" b="1">
                <a:solidFill>
                  <a:srgbClr val="C00000"/>
                </a:solidFill>
              </a:rPr>
              <a:t>3. Judiciary as the Interpreter of the Constitution</a:t>
            </a:r>
            <a:endParaRPr lang="en-US" altLang="en-US" sz="3600">
              <a:solidFill>
                <a:srgbClr val="C00000"/>
              </a:solidFill>
            </a:endParaRPr>
          </a:p>
        </p:txBody>
      </p:sp>
      <p:sp>
        <p:nvSpPr>
          <p:cNvPr id="14339" name="Content Placeholder 2">
            <a:extLst>
              <a:ext uri="{FF2B5EF4-FFF2-40B4-BE49-F238E27FC236}">
                <a16:creationId xmlns:a16="http://schemas.microsoft.com/office/drawing/2014/main" id="{DAF29D05-0A54-FDE0-9CCA-576A6BE3989F}"/>
              </a:ext>
            </a:extLst>
          </p:cNvPr>
          <p:cNvSpPr>
            <a:spLocks noGrp="1"/>
          </p:cNvSpPr>
          <p:nvPr>
            <p:ph idx="1"/>
          </p:nvPr>
        </p:nvSpPr>
        <p:spPr>
          <a:xfrm>
            <a:off x="457200" y="1828800"/>
            <a:ext cx="8229600" cy="4525963"/>
          </a:xfrm>
        </p:spPr>
        <p:txBody>
          <a:bodyPr/>
          <a:lstStyle/>
          <a:p>
            <a:pPr eaLnBrk="1" hangingPunct="1"/>
            <a:r>
              <a:rPr lang="en-US" altLang="en-US">
                <a:solidFill>
                  <a:srgbClr val="002060"/>
                </a:solidFill>
              </a:rPr>
              <a:t>The Constitution of India is a written and enacted constitution. </a:t>
            </a:r>
          </a:p>
          <a:p>
            <a:pPr eaLnBrk="1" hangingPunct="1"/>
            <a:r>
              <a:rPr lang="en-US" altLang="en-US">
                <a:solidFill>
                  <a:srgbClr val="002060"/>
                </a:solidFill>
              </a:rPr>
              <a:t>The right to interpret and clarify the Constitution has been given to the Supreme Court. </a:t>
            </a:r>
          </a:p>
          <a:p>
            <a:pPr eaLnBrk="1" hangingPunct="1"/>
            <a:r>
              <a:rPr lang="en-US" altLang="en-US">
                <a:solidFill>
                  <a:srgbClr val="002060"/>
                </a:solidFill>
              </a:rPr>
              <a:t>It is the final interpreter of the provisions of the Constitution of India.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AEB7EE49-1EEA-0CCB-6219-2257F71FBF20}"/>
              </a:ext>
            </a:extLst>
          </p:cNvPr>
          <p:cNvSpPr>
            <a:spLocks noGrp="1"/>
          </p:cNvSpPr>
          <p:nvPr>
            <p:ph type="title"/>
          </p:nvPr>
        </p:nvSpPr>
        <p:spPr>
          <a:xfrm>
            <a:off x="457200" y="76200"/>
            <a:ext cx="8229600" cy="715963"/>
          </a:xfrm>
        </p:spPr>
        <p:txBody>
          <a:bodyPr>
            <a:normAutofit fontScale="90000"/>
          </a:bodyPr>
          <a:lstStyle/>
          <a:p>
            <a:pPr eaLnBrk="1" hangingPunct="1"/>
            <a:r>
              <a:rPr lang="en-US" altLang="en-US" b="1">
                <a:solidFill>
                  <a:srgbClr val="C00000"/>
                </a:solidFill>
              </a:rPr>
              <a:t>4. Judicial Review</a:t>
            </a:r>
            <a:endParaRPr lang="en-US" altLang="en-US">
              <a:solidFill>
                <a:srgbClr val="C00000"/>
              </a:solidFill>
            </a:endParaRPr>
          </a:p>
        </p:txBody>
      </p:sp>
      <p:sp>
        <p:nvSpPr>
          <p:cNvPr id="15363" name="Content Placeholder 2">
            <a:extLst>
              <a:ext uri="{FF2B5EF4-FFF2-40B4-BE49-F238E27FC236}">
                <a16:creationId xmlns:a16="http://schemas.microsoft.com/office/drawing/2014/main" id="{F99C1F60-3635-21BE-37EA-2FF5466E598F}"/>
              </a:ext>
            </a:extLst>
          </p:cNvPr>
          <p:cNvSpPr>
            <a:spLocks noGrp="1"/>
          </p:cNvSpPr>
          <p:nvPr>
            <p:ph idx="1"/>
          </p:nvPr>
        </p:nvSpPr>
        <p:spPr>
          <a:xfrm>
            <a:off x="228600" y="914400"/>
            <a:ext cx="8686800" cy="5410200"/>
          </a:xfrm>
        </p:spPr>
        <p:txBody>
          <a:bodyPr/>
          <a:lstStyle/>
          <a:p>
            <a:pPr eaLnBrk="1" hangingPunct="1"/>
            <a:r>
              <a:rPr lang="en-US" altLang="en-US" sz="2800">
                <a:solidFill>
                  <a:srgbClr val="002060"/>
                </a:solidFill>
              </a:rPr>
              <a:t>The Constitution of India is the supreme law of the land. </a:t>
            </a:r>
          </a:p>
          <a:p>
            <a:pPr eaLnBrk="1" hangingPunct="1"/>
            <a:r>
              <a:rPr lang="en-US" altLang="en-US" sz="2800">
                <a:solidFill>
                  <a:srgbClr val="002060"/>
                </a:solidFill>
              </a:rPr>
              <a:t>The Supreme Court acts as the interpreter and protector of the Constitution. </a:t>
            </a:r>
          </a:p>
          <a:p>
            <a:pPr eaLnBrk="1" hangingPunct="1"/>
            <a:r>
              <a:rPr lang="en-US" altLang="en-US" sz="2800">
                <a:solidFill>
                  <a:srgbClr val="002060"/>
                </a:solidFill>
              </a:rPr>
              <a:t>It is the guardian of the fundamental rights and freedoms of the people.</a:t>
            </a:r>
          </a:p>
          <a:p>
            <a:pPr eaLnBrk="1" hangingPunct="1"/>
            <a:r>
              <a:rPr lang="en-US" altLang="en-US" sz="2800">
                <a:solidFill>
                  <a:srgbClr val="002060"/>
                </a:solidFill>
              </a:rPr>
              <a:t> For performing this role, it exercises the power of judicial review. </a:t>
            </a:r>
          </a:p>
          <a:p>
            <a:pPr eaLnBrk="1" hangingPunct="1"/>
            <a:r>
              <a:rPr lang="en-US" altLang="en-US" sz="2800">
                <a:solidFill>
                  <a:srgbClr val="002060"/>
                </a:solidFill>
              </a:rPr>
              <a:t>The Supreme Court has the power to determine the constitutional validity of all laws. </a:t>
            </a:r>
          </a:p>
          <a:p>
            <a:pPr eaLnBrk="1" hangingPunct="1"/>
            <a:r>
              <a:rPr lang="en-US" altLang="en-US" sz="2800">
                <a:solidFill>
                  <a:srgbClr val="002060"/>
                </a:solidFill>
              </a:rPr>
              <a:t>It can reject any such law which is held to be unconstitutional. High Courts also exercise this power.</a:t>
            </a:r>
          </a:p>
          <a:p>
            <a:pPr eaLnBrk="1" hangingPunct="1"/>
            <a:endParaRPr lang="en-US" altLang="en-US" sz="2800">
              <a:solidFill>
                <a:srgbClr val="00206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C6640B8A-1446-C880-DA22-09004CCAE9EE}"/>
              </a:ext>
            </a:extLst>
          </p:cNvPr>
          <p:cNvSpPr>
            <a:spLocks noGrp="1"/>
          </p:cNvSpPr>
          <p:nvPr>
            <p:ph type="title"/>
          </p:nvPr>
        </p:nvSpPr>
        <p:spPr/>
        <p:txBody>
          <a:bodyPr>
            <a:normAutofit fontScale="90000"/>
          </a:bodyPr>
          <a:lstStyle/>
          <a:p>
            <a:pPr eaLnBrk="1" hangingPunct="1"/>
            <a:r>
              <a:rPr lang="en-US" altLang="en-US" sz="3600" b="1">
                <a:solidFill>
                  <a:srgbClr val="C00000"/>
                </a:solidFill>
              </a:rPr>
              <a:t>5. High Court for each states as well a Provision for Joint High Courts</a:t>
            </a:r>
            <a:endParaRPr lang="en-US" altLang="en-US" sz="3600">
              <a:solidFill>
                <a:srgbClr val="C00000"/>
              </a:solidFill>
            </a:endParaRPr>
          </a:p>
        </p:txBody>
      </p:sp>
      <p:sp>
        <p:nvSpPr>
          <p:cNvPr id="16387" name="Content Placeholder 2">
            <a:extLst>
              <a:ext uri="{FF2B5EF4-FFF2-40B4-BE49-F238E27FC236}">
                <a16:creationId xmlns:a16="http://schemas.microsoft.com/office/drawing/2014/main" id="{3D6331B4-4286-BE2F-B963-4122404464D3}"/>
              </a:ext>
            </a:extLst>
          </p:cNvPr>
          <p:cNvSpPr>
            <a:spLocks noGrp="1"/>
          </p:cNvSpPr>
          <p:nvPr>
            <p:ph idx="1"/>
          </p:nvPr>
        </p:nvSpPr>
        <p:spPr>
          <a:xfrm>
            <a:off x="609600" y="2133600"/>
            <a:ext cx="8229600" cy="4525963"/>
          </a:xfrm>
        </p:spPr>
        <p:txBody>
          <a:bodyPr/>
          <a:lstStyle/>
          <a:p>
            <a:pPr eaLnBrk="1" hangingPunct="1"/>
            <a:r>
              <a:rPr lang="en-US" altLang="en-US">
                <a:solidFill>
                  <a:srgbClr val="002060"/>
                </a:solidFill>
              </a:rPr>
              <a:t>The Constitution lays down that there is to be a High Court for each state. </a:t>
            </a:r>
          </a:p>
          <a:p>
            <a:pPr eaLnBrk="1" hangingPunct="1"/>
            <a:r>
              <a:rPr lang="en-US" altLang="en-US">
                <a:solidFill>
                  <a:srgbClr val="002060"/>
                </a:solidFill>
              </a:rPr>
              <a:t>However, two or more states can, by mutual consent, have a Joint High Court.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44D26346-E485-34A8-1B22-1DA58C4E93F0}"/>
              </a:ext>
            </a:extLst>
          </p:cNvPr>
          <p:cNvSpPr>
            <a:spLocks noGrp="1"/>
          </p:cNvSpPr>
          <p:nvPr>
            <p:ph type="title"/>
          </p:nvPr>
        </p:nvSpPr>
        <p:spPr/>
        <p:txBody>
          <a:bodyPr/>
          <a:lstStyle/>
          <a:p>
            <a:pPr eaLnBrk="1" hangingPunct="1"/>
            <a:r>
              <a:rPr lang="en-US" altLang="en-US" sz="3200" b="1">
                <a:solidFill>
                  <a:srgbClr val="C00000"/>
                </a:solidFill>
              </a:rPr>
              <a:t>6. Supreme Court as the Arbiter of legal disputes between the Union and States</a:t>
            </a:r>
            <a:endParaRPr lang="en-US" altLang="en-US" sz="3200">
              <a:solidFill>
                <a:srgbClr val="C00000"/>
              </a:solidFill>
            </a:endParaRPr>
          </a:p>
        </p:txBody>
      </p:sp>
      <p:sp>
        <p:nvSpPr>
          <p:cNvPr id="17411" name="Content Placeholder 2">
            <a:extLst>
              <a:ext uri="{FF2B5EF4-FFF2-40B4-BE49-F238E27FC236}">
                <a16:creationId xmlns:a16="http://schemas.microsoft.com/office/drawing/2014/main" id="{0CB92A2B-5B1B-620C-3869-279294CA9D96}"/>
              </a:ext>
            </a:extLst>
          </p:cNvPr>
          <p:cNvSpPr>
            <a:spLocks noGrp="1"/>
          </p:cNvSpPr>
          <p:nvPr>
            <p:ph idx="1"/>
          </p:nvPr>
        </p:nvSpPr>
        <p:spPr/>
        <p:txBody>
          <a:bodyPr/>
          <a:lstStyle/>
          <a:p>
            <a:pPr eaLnBrk="1" hangingPunct="1">
              <a:buFont typeface="Arial" panose="020B0604020202020204" pitchFamily="34" charset="0"/>
              <a:buNone/>
            </a:pPr>
            <a:r>
              <a:rPr lang="en-US" altLang="en-US" b="1">
                <a:solidFill>
                  <a:srgbClr val="002060"/>
                </a:solidFill>
              </a:rPr>
              <a:t>The Constitution gives to the Supreme Court the jurisdiction in all cases of disputes: </a:t>
            </a:r>
            <a:endParaRPr lang="en-US" altLang="en-US">
              <a:solidFill>
                <a:srgbClr val="002060"/>
              </a:solidFill>
            </a:endParaRPr>
          </a:p>
          <a:p>
            <a:pPr eaLnBrk="1" hangingPunct="1"/>
            <a:r>
              <a:rPr lang="en-US" altLang="en-US">
                <a:solidFill>
                  <a:srgbClr val="002060"/>
                </a:solidFill>
              </a:rPr>
              <a:t>(i) Between the Government of India and one or more states,</a:t>
            </a:r>
          </a:p>
          <a:p>
            <a:pPr eaLnBrk="1" hangingPunct="1"/>
            <a:r>
              <a:rPr lang="en-US" altLang="en-US">
                <a:solidFill>
                  <a:srgbClr val="002060"/>
                </a:solidFill>
              </a:rPr>
              <a:t>(ii) Between the Government of India and any state or states on one side and one or more states on the other, and</a:t>
            </a:r>
          </a:p>
          <a:p>
            <a:pPr eaLnBrk="1" hangingPunct="1"/>
            <a:r>
              <a:rPr lang="en-US" altLang="en-US">
                <a:solidFill>
                  <a:srgbClr val="002060"/>
                </a:solidFill>
              </a:rPr>
              <a:t>(iii) Between two or more states.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F7B72312-9C08-C34E-1A95-5A964A387D56}"/>
              </a:ext>
            </a:extLst>
          </p:cNvPr>
          <p:cNvSpPr>
            <a:spLocks noGrp="1"/>
          </p:cNvSpPr>
          <p:nvPr>
            <p:ph type="title"/>
          </p:nvPr>
        </p:nvSpPr>
        <p:spPr/>
        <p:txBody>
          <a:bodyPr/>
          <a:lstStyle/>
          <a:p>
            <a:pPr eaLnBrk="1" hangingPunct="1"/>
            <a:r>
              <a:rPr lang="en-US" altLang="en-US" b="1">
                <a:solidFill>
                  <a:srgbClr val="C00000"/>
                </a:solidFill>
              </a:rPr>
              <a:t>7. Guardian of Fundamental Rights</a:t>
            </a:r>
            <a:endParaRPr lang="en-US" altLang="en-US">
              <a:solidFill>
                <a:srgbClr val="C00000"/>
              </a:solidFill>
            </a:endParaRPr>
          </a:p>
        </p:txBody>
      </p:sp>
      <p:sp>
        <p:nvSpPr>
          <p:cNvPr id="18435" name="Content Placeholder 2">
            <a:extLst>
              <a:ext uri="{FF2B5EF4-FFF2-40B4-BE49-F238E27FC236}">
                <a16:creationId xmlns:a16="http://schemas.microsoft.com/office/drawing/2014/main" id="{A5AD00D8-2430-4894-4CEF-A6053F04E501}"/>
              </a:ext>
            </a:extLst>
          </p:cNvPr>
          <p:cNvSpPr>
            <a:spLocks noGrp="1"/>
          </p:cNvSpPr>
          <p:nvPr>
            <p:ph idx="1"/>
          </p:nvPr>
        </p:nvSpPr>
        <p:spPr>
          <a:xfrm>
            <a:off x="457200" y="1524000"/>
            <a:ext cx="8229600" cy="4525963"/>
          </a:xfrm>
        </p:spPr>
        <p:txBody>
          <a:bodyPr>
            <a:normAutofit fontScale="92500"/>
          </a:bodyPr>
          <a:lstStyle/>
          <a:p>
            <a:pPr eaLnBrk="1" hangingPunct="1"/>
            <a:r>
              <a:rPr lang="en-US" altLang="en-US">
                <a:solidFill>
                  <a:srgbClr val="002060"/>
                </a:solidFill>
              </a:rPr>
              <a:t>Indian judiciary acts as the guardian of fundamental rights and freedoms of the people. </a:t>
            </a:r>
          </a:p>
          <a:p>
            <a:pPr eaLnBrk="1" hangingPunct="1"/>
            <a:r>
              <a:rPr lang="en-US" altLang="en-US">
                <a:solidFill>
                  <a:srgbClr val="002060"/>
                </a:solidFill>
              </a:rPr>
              <a:t>The people have the Right to Constitutional Remedies under which they can seek the protection of the courts for preventing a violation or for meeting any threat to their rights. </a:t>
            </a:r>
          </a:p>
          <a:p>
            <a:pPr eaLnBrk="1" hangingPunct="1"/>
            <a:r>
              <a:rPr lang="en-US" altLang="en-US">
                <a:solidFill>
                  <a:srgbClr val="002060"/>
                </a:solidFill>
              </a:rPr>
              <a:t>The Supreme Court and the High Courts have the power to issue writs for this purpose.</a:t>
            </a:r>
          </a:p>
          <a:p>
            <a:pPr eaLnBrk="1" hangingPunct="1"/>
            <a:endParaRPr lang="en-US" altLang="en-US">
              <a:solidFill>
                <a:srgbClr val="00206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A9328B51-3B2F-BA46-BD0E-CF475A7BAEB2}"/>
              </a:ext>
            </a:extLst>
          </p:cNvPr>
          <p:cNvSpPr>
            <a:spLocks noGrp="1"/>
          </p:cNvSpPr>
          <p:nvPr>
            <p:ph type="title"/>
          </p:nvPr>
        </p:nvSpPr>
        <p:spPr>
          <a:xfrm>
            <a:off x="457200" y="274638"/>
            <a:ext cx="8229600" cy="715962"/>
          </a:xfrm>
        </p:spPr>
        <p:txBody>
          <a:bodyPr/>
          <a:lstStyle/>
          <a:p>
            <a:pPr eaLnBrk="1" hangingPunct="1"/>
            <a:r>
              <a:rPr lang="en-US" altLang="en-US" sz="3200" b="1">
                <a:solidFill>
                  <a:srgbClr val="C00000"/>
                </a:solidFill>
              </a:rPr>
              <a:t>8. Separation of Judiciary from the Executive</a:t>
            </a:r>
            <a:endParaRPr lang="en-US" altLang="en-US" sz="3200">
              <a:solidFill>
                <a:srgbClr val="C00000"/>
              </a:solidFill>
            </a:endParaRPr>
          </a:p>
        </p:txBody>
      </p:sp>
      <p:sp>
        <p:nvSpPr>
          <p:cNvPr id="19459" name="Content Placeholder 2">
            <a:extLst>
              <a:ext uri="{FF2B5EF4-FFF2-40B4-BE49-F238E27FC236}">
                <a16:creationId xmlns:a16="http://schemas.microsoft.com/office/drawing/2014/main" id="{A32D0332-4E1C-2365-9C0D-E683DB389958}"/>
              </a:ext>
            </a:extLst>
          </p:cNvPr>
          <p:cNvSpPr>
            <a:spLocks noGrp="1"/>
          </p:cNvSpPr>
          <p:nvPr>
            <p:ph idx="1"/>
          </p:nvPr>
        </p:nvSpPr>
        <p:spPr/>
        <p:txBody>
          <a:bodyPr/>
          <a:lstStyle/>
          <a:p>
            <a:pPr eaLnBrk="1" hangingPunct="1"/>
            <a:r>
              <a:rPr lang="en-US" altLang="en-US">
                <a:solidFill>
                  <a:srgbClr val="002060"/>
                </a:solidFill>
              </a:rPr>
              <a:t>The Constitution of India provides for a separation between the judiciary and the other two organs of the government. </a:t>
            </a:r>
          </a:p>
          <a:p>
            <a:pPr eaLnBrk="1" hangingPunct="1"/>
            <a:r>
              <a:rPr lang="en-US" altLang="en-US">
                <a:solidFill>
                  <a:srgbClr val="002060"/>
                </a:solidFill>
              </a:rPr>
              <a:t>The judiciary is neither a branch of the executive nor in any way subordinate to it. </a:t>
            </a:r>
          </a:p>
          <a:p>
            <a:pPr eaLnBrk="1" hangingPunct="1"/>
            <a:r>
              <a:rPr lang="en-US" altLang="en-US">
                <a:solidFill>
                  <a:srgbClr val="002060"/>
                </a:solidFill>
              </a:rPr>
              <a:t>The judicial administration in India is oraganised and run in accordance with the rules and orders of the Supreme Court.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4D1AD7D3-8204-5E0E-9CA3-824AF9F61815}"/>
              </a:ext>
            </a:extLst>
          </p:cNvPr>
          <p:cNvSpPr>
            <a:spLocks noGrp="1"/>
          </p:cNvSpPr>
          <p:nvPr>
            <p:ph type="title"/>
          </p:nvPr>
        </p:nvSpPr>
        <p:spPr/>
        <p:txBody>
          <a:bodyPr/>
          <a:lstStyle/>
          <a:p>
            <a:pPr eaLnBrk="1" hangingPunct="1"/>
            <a:r>
              <a:rPr lang="en-US" altLang="en-US" b="1">
                <a:solidFill>
                  <a:srgbClr val="C00000"/>
                </a:solidFill>
              </a:rPr>
              <a:t>9. Open Trial</a:t>
            </a:r>
            <a:endParaRPr lang="en-US" altLang="en-US">
              <a:solidFill>
                <a:srgbClr val="C00000"/>
              </a:solidFill>
            </a:endParaRPr>
          </a:p>
        </p:txBody>
      </p:sp>
      <p:sp>
        <p:nvSpPr>
          <p:cNvPr id="20483" name="Content Placeholder 2">
            <a:extLst>
              <a:ext uri="{FF2B5EF4-FFF2-40B4-BE49-F238E27FC236}">
                <a16:creationId xmlns:a16="http://schemas.microsoft.com/office/drawing/2014/main" id="{2AC3922F-33E4-D539-E403-3B2D86E29E50}"/>
              </a:ext>
            </a:extLst>
          </p:cNvPr>
          <p:cNvSpPr>
            <a:spLocks noGrp="1"/>
          </p:cNvSpPr>
          <p:nvPr>
            <p:ph idx="1"/>
          </p:nvPr>
        </p:nvSpPr>
        <p:spPr/>
        <p:txBody>
          <a:bodyPr/>
          <a:lstStyle/>
          <a:p>
            <a:pPr eaLnBrk="1" hangingPunct="1"/>
            <a:r>
              <a:rPr lang="en-US" altLang="en-US">
                <a:solidFill>
                  <a:srgbClr val="002060"/>
                </a:solidFill>
              </a:rPr>
              <a:t>The courts in India are free. </a:t>
            </a:r>
          </a:p>
          <a:p>
            <a:pPr eaLnBrk="1" hangingPunct="1"/>
            <a:r>
              <a:rPr lang="en-US" altLang="en-US">
                <a:solidFill>
                  <a:srgbClr val="002060"/>
                </a:solidFill>
              </a:rPr>
              <a:t>These conduct open trials. </a:t>
            </a:r>
          </a:p>
          <a:p>
            <a:pPr eaLnBrk="1" hangingPunct="1"/>
            <a:r>
              <a:rPr lang="en-US" altLang="en-US">
                <a:solidFill>
                  <a:srgbClr val="002060"/>
                </a:solidFill>
              </a:rPr>
              <a:t>The accused is always given full opportunity to defend himself. </a:t>
            </a:r>
          </a:p>
          <a:p>
            <a:pPr eaLnBrk="1" hangingPunct="1"/>
            <a:r>
              <a:rPr lang="en-US" altLang="en-US">
                <a:solidFill>
                  <a:srgbClr val="002060"/>
                </a:solidFill>
              </a:rPr>
              <a:t>The state provides free legal aid to the poor and needy.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7CA26574-0424-127E-7B4B-D8A8ADCE73B0}"/>
              </a:ext>
            </a:extLst>
          </p:cNvPr>
          <p:cNvSpPr>
            <a:spLocks noGrp="1"/>
          </p:cNvSpPr>
          <p:nvPr>
            <p:ph type="title"/>
          </p:nvPr>
        </p:nvSpPr>
        <p:spPr>
          <a:xfrm>
            <a:off x="457200" y="152400"/>
            <a:ext cx="8229600" cy="1143000"/>
          </a:xfrm>
        </p:spPr>
        <p:txBody>
          <a:bodyPr/>
          <a:lstStyle/>
          <a:p>
            <a:pPr eaLnBrk="1" hangingPunct="1"/>
            <a:r>
              <a:rPr lang="en-US" altLang="en-US" b="1">
                <a:solidFill>
                  <a:srgbClr val="C00000"/>
                </a:solidFill>
              </a:rPr>
              <a:t>10. Judicial Activism</a:t>
            </a:r>
            <a:endParaRPr lang="en-US" altLang="en-US">
              <a:solidFill>
                <a:srgbClr val="C00000"/>
              </a:solidFill>
            </a:endParaRPr>
          </a:p>
        </p:txBody>
      </p:sp>
      <p:sp>
        <p:nvSpPr>
          <p:cNvPr id="21507" name="Content Placeholder 2">
            <a:extLst>
              <a:ext uri="{FF2B5EF4-FFF2-40B4-BE49-F238E27FC236}">
                <a16:creationId xmlns:a16="http://schemas.microsoft.com/office/drawing/2014/main" id="{72609555-1E84-9844-BAC3-9670E2535E1C}"/>
              </a:ext>
            </a:extLst>
          </p:cNvPr>
          <p:cNvSpPr>
            <a:spLocks noGrp="1"/>
          </p:cNvSpPr>
          <p:nvPr>
            <p:ph idx="1"/>
          </p:nvPr>
        </p:nvSpPr>
        <p:spPr>
          <a:xfrm>
            <a:off x="457200" y="1447800"/>
            <a:ext cx="8229600" cy="4525963"/>
          </a:xfrm>
        </p:spPr>
        <p:txBody>
          <a:bodyPr>
            <a:normAutofit fontScale="92500"/>
          </a:bodyPr>
          <a:lstStyle/>
          <a:p>
            <a:pPr eaLnBrk="1" hangingPunct="1"/>
            <a:r>
              <a:rPr lang="en-US" altLang="en-US" sz="2800">
                <a:solidFill>
                  <a:srgbClr val="002060"/>
                </a:solidFill>
              </a:rPr>
              <a:t>Indian Judicial System has been becoming more and more active. </a:t>
            </a:r>
          </a:p>
          <a:p>
            <a:pPr eaLnBrk="1" hangingPunct="1"/>
            <a:r>
              <a:rPr lang="en-US" altLang="en-US" sz="2800">
                <a:solidFill>
                  <a:srgbClr val="002060"/>
                </a:solidFill>
              </a:rPr>
              <a:t>The Supreme Court has been coming out with judicial decisions and directives aimed at active protection of public interest and human rights. </a:t>
            </a:r>
          </a:p>
          <a:p>
            <a:pPr eaLnBrk="1" hangingPunct="1"/>
            <a:r>
              <a:rPr lang="en-US" altLang="en-US" sz="2800">
                <a:solidFill>
                  <a:srgbClr val="002060"/>
                </a:solidFill>
              </a:rPr>
              <a:t>Judiciary has been giving directives to public officials for ensuring a better security for the rights of the public. </a:t>
            </a:r>
          </a:p>
          <a:p>
            <a:pPr eaLnBrk="1" hangingPunct="1"/>
            <a:r>
              <a:rPr lang="en-US" altLang="en-US" sz="2800">
                <a:solidFill>
                  <a:srgbClr val="002060"/>
                </a:solidFill>
              </a:rPr>
              <a:t>The Public Interest Litigation system has been picking up. The system of Lok Adalats has also taken a proper shape and health.</a:t>
            </a:r>
          </a:p>
          <a:p>
            <a:pPr eaLnBrk="1" hangingPunct="1"/>
            <a:endParaRPr lang="en-US" altLang="en-US" sz="2800">
              <a:solidFill>
                <a:srgbClr val="00206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FF9CF8A5-BD1A-117F-EE9E-89F2E4324DF0}"/>
              </a:ext>
            </a:extLst>
          </p:cNvPr>
          <p:cNvSpPr>
            <a:spLocks noGrp="1"/>
          </p:cNvSpPr>
          <p:nvPr>
            <p:ph type="title"/>
          </p:nvPr>
        </p:nvSpPr>
        <p:spPr>
          <a:xfrm>
            <a:off x="381000" y="0"/>
            <a:ext cx="8229600" cy="1143000"/>
          </a:xfrm>
        </p:spPr>
        <p:txBody>
          <a:bodyPr/>
          <a:lstStyle/>
          <a:p>
            <a:pPr eaLnBrk="1" hangingPunct="1"/>
            <a:r>
              <a:rPr lang="en-US" altLang="en-US" sz="4000" b="1">
                <a:solidFill>
                  <a:srgbClr val="C00000"/>
                </a:solidFill>
              </a:rPr>
              <a:t>11. Public Interest Litigation System</a:t>
            </a:r>
            <a:endParaRPr lang="en-US" altLang="en-US" sz="4000">
              <a:solidFill>
                <a:srgbClr val="C00000"/>
              </a:solidFill>
            </a:endParaRPr>
          </a:p>
        </p:txBody>
      </p:sp>
      <p:sp>
        <p:nvSpPr>
          <p:cNvPr id="22531" name="Content Placeholder 2">
            <a:extLst>
              <a:ext uri="{FF2B5EF4-FFF2-40B4-BE49-F238E27FC236}">
                <a16:creationId xmlns:a16="http://schemas.microsoft.com/office/drawing/2014/main" id="{F70FFBC3-B4BB-45B0-6700-49DF171689A1}"/>
              </a:ext>
            </a:extLst>
          </p:cNvPr>
          <p:cNvSpPr>
            <a:spLocks noGrp="1"/>
          </p:cNvSpPr>
          <p:nvPr>
            <p:ph idx="1"/>
          </p:nvPr>
        </p:nvSpPr>
        <p:spPr>
          <a:xfrm>
            <a:off x="609600" y="1447800"/>
            <a:ext cx="8229600" cy="5105400"/>
          </a:xfrm>
        </p:spPr>
        <p:txBody>
          <a:bodyPr/>
          <a:lstStyle/>
          <a:p>
            <a:pPr eaLnBrk="1" hangingPunct="1"/>
            <a:r>
              <a:rPr lang="en-US" altLang="en-US" sz="2400">
                <a:solidFill>
                  <a:srgbClr val="002060"/>
                </a:solidFill>
              </a:rPr>
              <a:t>Under this system the courts of law in India can initiate and enforce action for securing any significant public or general interest which is being adversely affected or is likely to be so by the action of any agency, public or private. Under it any citizen or a group or a voluntary organisation, or even a court herself, can bring to notice any case demanding action for protecting and satisfying a public interest.</a:t>
            </a:r>
          </a:p>
          <a:p>
            <a:pPr eaLnBrk="1" hangingPunct="1"/>
            <a:r>
              <a:rPr lang="en-US" altLang="en-US" sz="2400">
                <a:solidFill>
                  <a:srgbClr val="002060"/>
                </a:solidFill>
              </a:rPr>
              <a:t>It provides for an easy, simple, speedier and less expensive system of providing judicial relief to the aggrieved public. With all these features, the Indian Judicial System is an independent, impartial, free, powerful and efficient judicial system.</a:t>
            </a:r>
          </a:p>
          <a:p>
            <a:pPr eaLnBrk="1" hangingPunct="1"/>
            <a:endParaRPr lang="en-US" altLang="en-US" sz="2400">
              <a:solidFill>
                <a:srgbClr val="002060"/>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1334</Words>
  <Application>Microsoft Office PowerPoint</Application>
  <PresentationFormat>On-screen Show (4:3)</PresentationFormat>
  <Paragraphs>99</Paragraphs>
  <Slides>21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Judiciary in India</vt:lpstr>
      <vt:lpstr>Introduction to Judiciary</vt:lpstr>
      <vt:lpstr>Structure of Indian Judiciary</vt:lpstr>
      <vt:lpstr>PowerPoint Presentation</vt:lpstr>
      <vt:lpstr>PowerPoint Presentation</vt:lpstr>
      <vt:lpstr>PowerPoint Presentation</vt:lpstr>
      <vt:lpstr>The Supreme Court</vt:lpstr>
      <vt:lpstr>Jurisdiction of High Court</vt:lpstr>
      <vt:lpstr>Subordinate courts</vt:lpstr>
      <vt:lpstr>PowerPoint Presentation</vt:lpstr>
      <vt:lpstr>1. Single and Integrated Judicial System</vt:lpstr>
      <vt:lpstr>2. Independence of Judiciary: </vt:lpstr>
      <vt:lpstr>3. Judiciary as the Interpreter of the Constitution</vt:lpstr>
      <vt:lpstr>4. Judicial Review</vt:lpstr>
      <vt:lpstr>5. High Court for each states as well a Provision for Joint High Courts</vt:lpstr>
      <vt:lpstr>6. Supreme Court as the Arbiter of legal disputes between the Union and States</vt:lpstr>
      <vt:lpstr>7. Guardian of Fundamental Rights</vt:lpstr>
      <vt:lpstr>8. Separation of Judiciary from the Executive</vt:lpstr>
      <vt:lpstr>9. Open Trial</vt:lpstr>
      <vt:lpstr>10. Judicial Activism</vt:lpstr>
      <vt:lpstr>11. Public Interest Litigation System</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Tejaswi Mulinti</cp:lastModifiedBy>
  <cp:revision>2</cp:revision>
  <dcterms:created xsi:type="dcterms:W3CDTF">2013-01-27T09:14:16Z</dcterms:created>
  <dcterms:modified xsi:type="dcterms:W3CDTF">2025-11-19T10:35:47Z</dcterms:modified>
  <cp:category/>
</cp:coreProperties>
</file>